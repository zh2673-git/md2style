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94560"/>
            <a:ext cx="8961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微软雅黑"/>
              </a:rPr>
              <a:t>md2style 综合效果评估文档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0" y="3840480"/>
            <a:ext cx="1463040" cy="73152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888888"/>
                </a:solidFill>
                <a:latin typeface="微软雅黑"/>
              </a:defRPr>
            </a:pPr>
            <a:r>
              <a:t>md2style · #D4A27F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本文件用于全面验证渲染器在复杂内容下的表现，覆盖多级标题、嵌套列表、长代码、多表格、引用、分割线等元素。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Georgia"/>
              </a:rPr>
              <a:t>一、设计理念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md2style 的本质是**用声明式样式表 + 参数白名单取代自由文本描述**，把"排好看点"这类不可执行意图转化为可复用的版式引擎。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引用：好的排版应当有清晰的层级节奏——标题与正文之间、段落与段落之间，都有恰当的呼吸感。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Georgia"/>
              </a:rPr>
              <a:t>二、功能清单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A2A2A"/>
                </a:solidFill>
                <a:latin typeface="Georgia"/>
              </a:rPr>
              <a:t>2.1 转换能力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支持格式：Word（docx）、网页（html）、演示（pptx）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预定义风格：论文、公文、Claude、Mac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参数微调：H1 颜色、字号、正文字体、行距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A2A2A"/>
                </a:solidFill>
                <a:latin typeface="Georgia"/>
              </a:rPr>
              <a:t>2.2 逆向学习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用户拖入 Word 模板 → 自动提取样式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用户拖入 HTML 模板 → 提取 CSS 声明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生成 YAML 立即可在下拉框选用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Georgia"/>
              </a:rPr>
              <a:t>三、代码示例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下面是一段较长的 Python 代码，用于验证代码块在三种格式下的呈现：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行内代码如 `StyleConfig.merge()` 也会被保留。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from dataclasses import dataclass</a:t>
            </a:r>
            <a:br/>
            <a:r>
              <a:t>from typing import List</a:t>
            </a:r>
            <a:br/>
            <a:br/>
            <a:br/>
            <a:r>
              <a:t>@dataclass</a:t>
            </a:r>
            <a:br/>
            <a:r>
              <a:t>class StyleConfig:</a:t>
            </a:r>
            <a:br/>
            <a:r>
              <a:t>    """样式配置：声明式、可序列化。"""</a:t>
            </a:r>
            <a:br/>
            <a:r>
              <a:t>    headings: dict</a:t>
            </a:r>
            <a:br/>
            <a:r>
              <a:t>    body: dict</a:t>
            </a:r>
            <a:br/>
            <a:r>
              <a:t>    code: dict</a:t>
            </a:r>
            <a:br/>
            <a:br/>
            <a:br/>
            <a:r>
              <a:t>class Engine:</a:t>
            </a:r>
            <a:br/>
            <a:r>
              <a:t>    def __init__(self, presets: List[StyleConfig]):</a:t>
            </a:r>
            <a:br/>
            <a:r>
              <a:t>        self.presets = {p.name: p for p in presets}</a:t>
            </a:r>
            <a:br/>
            <a:br/>
            <a:r>
              <a:t>    def resolve(self, name: str, overrides: dict) -&gt; StyleConfig:</a:t>
            </a:r>
            <a:br/>
            <a:r>
              <a:t>        base = self.presets.get(name, StyleConfig.default())</a:t>
            </a:r>
            <a:br/>
            <a:r>
              <a:t>        return base.merge(overrides)</a:t>
            </a:r>
            <a:br/>
            <a:br/>
            <a:r>
              <a:t>    def validate(self, cfg: StyleConfig) -&gt; None:</a:t>
            </a:r>
            <a:br/>
            <a:r>
              <a:t>        for h, spec in cfg.headings.items():</a:t>
            </a:r>
            <a:br/>
            <a:r>
              <a:t>            if not (8 &lt;= spec.size &lt;= 72):</a:t>
            </a:r>
            <a:br/>
            <a:r>
              <a:t>                raise ValueError(f"{h} 字号越界: {spec.size}")</a:t>
            </a:r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Georgia"/>
              </a:rPr>
              <a:t>四、对比表格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A2A2A"/>
                </a:solidFill>
                <a:latin typeface="Georgia"/>
              </a:rPr>
              <a:t>4.1 表格二（数值型）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Georgia"/>
              </a:rPr>
              <a:t>五、嵌套内容演示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外层引用：</a:t>
            </a:r>
            <a:br/>
            <a:r>
              <a:t>&gt; 内层引用：支持多级引用嵌套，体现版式层次。</a:t>
            </a:r>
            <a:br/>
            <a:r>
              <a:t>回到外层。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12648"/>
            <a:ext cx="2926080" cy="82296"/>
          </a:xfrm>
          <a:prstGeom prst="roundRect">
            <a:avLst/>
          </a:prstGeom>
          <a:solidFill>
            <a:srgbClr val="D4A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Georgia"/>
              </a:rPr>
              <a:t>六、结尾说明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9692640" cy="40233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spcAft>
                <a:spcPts val="1000"/>
              </a:spcAft>
            </a:pPr>
            <a:r>
              <a:rPr sz="1600">
                <a:solidFill>
                  <a:srgbClr val="2A2A2A"/>
                </a:solidFill>
                <a:latin typeface="-apple-system"/>
              </a:rPr>
              <a:t>•  以上覆盖了常见 Markdown 语义节点。三种格式的渲染应分别体现各自风格的"原版观感"：</a:t>
            </a:r>
            <a:br/>
            <a:r>
              <a:t>公文严肃规整、论文学术克制、Claude 优雅留白、Mac 现代圆润。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5760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微软雅黑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