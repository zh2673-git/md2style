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94560"/>
            <a:ext cx="8961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微软雅黑"/>
              </a:rPr>
              <a:t>H1 一级标题（最高层级，字号最大）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0" y="3840480"/>
            <a:ext cx="1463040" cy="73152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888888"/>
                </a:solidFill>
                <a:latin typeface="微软雅黑"/>
              </a:defRPr>
            </a:pPr>
            <a:r>
              <a:t>md2style · #D4A27F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本段为正文默认字体。H1 是最高层级标题，字号最大。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Georgia"/>
              </a:rPr>
              <a:t>H2 二级标题（主要章节）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H2 用于主要章节，带下边框分隔。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A2A2A"/>
                </a:solidFill>
                <a:latin typeface="Georgia"/>
              </a:rPr>
              <a:t>H3 三级标题（子章节）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H3 用于子章节。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A2A2A"/>
                </a:solidFill>
                <a:latin typeface="Georgia"/>
              </a:rPr>
              <a:t>H4 四级标题（次级子章节）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H4 次级子章节。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A2A2A"/>
                </a:solidFill>
                <a:latin typeface="Georgia"/>
              </a:rPr>
              <a:t>H5 五级标题（更小层级）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H5 更小层级。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A2A2A"/>
                </a:solidFill>
                <a:latin typeface="Georgia"/>
              </a:rPr>
              <a:t>H6 六级标题（最小层级）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H6 最小标题层级。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Georgia"/>
              </a:rPr>
              <a:t>字体对照（同一段用不同字体，验证字体切换是否生效）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微软雅黑"/>
              </a:rPr>
              <a:t>•  这是微软雅黑字体：The quick brown fox 12345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宋体"/>
              </a:rPr>
              <a:t>•  这是宋体字体：The quick brown fox 12345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仿宋"/>
              </a:rPr>
              <a:t>•  这是仿宋字体：The quick brown fox 12345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黑体"/>
              </a:rPr>
              <a:t>•  这是黑体字体：The quick brown fox 12345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楷体"/>
              </a:rPr>
              <a:t>•  这是楷体字体：The quick brown fox 12345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Times New Roman"/>
              </a:rPr>
              <a:t>•  这是 Times New Roman：The quick brown fox 12345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Georgia"/>
              </a:rPr>
              <a:t>字符样式对照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这是**加粗强调**（strong）的文字。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这是*斜体强调*（em）的文字。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这是 `行内代码`（inline code）样式。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这是[一个链接](https://example.com)示例。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这是 !!方框!! 风格占位（用卡片/引用表现）。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Georgia"/>
              </a:rPr>
              <a:t>引用块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**提示卡片**：这是用引用表现的"方框"效果，可放注意事项或关键结论。</a:t>
            </a:r>
            <a:br/>
            <a:r>
              <a:t>第二行引用，用于观察多行引用块的排版。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Georgia"/>
              </a:rPr>
              <a:t>代码块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def greet(name: str) -&gt; str:</a:t>
            </a:r>
            <a:br/>
            <a:r>
              <a:t>    # 这是注释</a:t>
            </a:r>
            <a:br/>
            <a:r>
              <a:t>    return f"Hello, {name}!"</a:t>
            </a:r>
            <a:b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const sum = (a, b) =&gt; a + b;  // 箭头函数</a:t>
            </a:r>
            <a:br/>
            <a:r>
              <a:t>console.log(sum(1, 2));</a:t>
            </a:r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Georgia"/>
              </a:rPr>
              <a:t>表格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Georgia"/>
              </a:rPr>
              <a:t>列表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无序列表：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第一项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第二项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第三项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有序列表：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步骤一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步骤二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步骤三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Georgia"/>
              </a:rPr>
              <a:t>分割线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下面是分割线，用于视觉分隔不同区块。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Georgia"/>
              </a:rPr>
              <a:t>图片占位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![示例图片占位](https://via.placeholder.com/600x200.png)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Georgia"/>
              </a:rPr>
              <a:t>结尾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本文件结束。以上覆盖了标题分级、字体对照、字符样式、引用、代码、表格、列表、分割线、图片等全部元素，便于逐项检查渲染效果。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